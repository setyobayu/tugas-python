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47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7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3/23/2019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3/23/2019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3/23/2019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3/23/2019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3/23/2019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3/23/2019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3/23/2019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3/23/2019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3/23/2019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3/23/2019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0715" y="1447799"/>
            <a:ext cx="8825658" cy="3329581"/>
          </a:xfrm>
        </p:spPr>
        <p:txBody>
          <a:bodyPr/>
          <a:lstStyle/>
          <a:p>
            <a:pPr algn="ctr"/>
            <a:r>
              <a:rPr lang="en-US" sz="6000" b="1" dirty="0" smtClean="0"/>
              <a:t>PENGENALAN DASAR PYTHON DAN PERSIAPAN AWAL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0715" y="4799880"/>
            <a:ext cx="8825658" cy="861420"/>
          </a:xfrm>
        </p:spPr>
        <p:txBody>
          <a:bodyPr>
            <a:noAutofit/>
          </a:bodyPr>
          <a:lstStyle/>
          <a:p>
            <a:pPr algn="ctr"/>
            <a:r>
              <a:rPr lang="en-US" sz="2400" dirty="0" err="1" smtClean="0"/>
              <a:t>Setyo</a:t>
            </a:r>
            <a:r>
              <a:rPr lang="en-US" sz="2400" dirty="0" smtClean="0"/>
              <a:t> </a:t>
            </a:r>
            <a:r>
              <a:rPr lang="en-US" sz="2400" dirty="0" err="1" smtClean="0"/>
              <a:t>bayu</a:t>
            </a:r>
            <a:r>
              <a:rPr lang="en-US" sz="2400" dirty="0" smtClean="0"/>
              <a:t> </a:t>
            </a:r>
            <a:r>
              <a:rPr lang="en-US" sz="2400" dirty="0" err="1" smtClean="0"/>
              <a:t>aji</a:t>
            </a:r>
            <a:endParaRPr lang="en-US" sz="2400" dirty="0" smtClean="0"/>
          </a:p>
          <a:p>
            <a:pPr algn="ctr"/>
            <a:r>
              <a:rPr lang="en-US" sz="2400" dirty="0" smtClean="0"/>
              <a:t>56415497</a:t>
            </a:r>
          </a:p>
          <a:p>
            <a:pPr algn="ctr"/>
            <a:r>
              <a:rPr lang="en-US" sz="2400" dirty="0" smtClean="0"/>
              <a:t>4ia14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10854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4911" y="1533378"/>
            <a:ext cx="1060704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err="1">
                <a:solidFill>
                  <a:schemeClr val="tx1">
                    <a:lumMod val="85000"/>
                  </a:schemeClr>
                </a:solidFill>
              </a:rPr>
              <a:t>Persiapan</a:t>
            </a:r>
            <a:r>
              <a:rPr lang="en-US" sz="2800" b="1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tx1">
                    <a:lumMod val="85000"/>
                  </a:schemeClr>
                </a:solidFill>
              </a:rPr>
              <a:t>Alat</a:t>
            </a:r>
            <a:r>
              <a:rPr lang="en-US" sz="2800" b="1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tx1">
                    <a:lumMod val="85000"/>
                  </a:schemeClr>
                </a:solidFill>
              </a:rPr>
              <a:t>untuk</a:t>
            </a:r>
            <a:r>
              <a:rPr lang="en-US" sz="2800" b="1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tx1">
                    <a:lumMod val="85000"/>
                  </a:schemeClr>
                </a:solidFill>
              </a:rPr>
              <a:t>Belajar</a:t>
            </a:r>
            <a:r>
              <a:rPr lang="en-US" sz="2800" b="1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tx1">
                    <a:lumMod val="85000"/>
                  </a:schemeClr>
                </a:solidFill>
              </a:rPr>
              <a:t>Pemrograman</a:t>
            </a:r>
            <a:r>
              <a:rPr lang="en-US" sz="2800" b="1" dirty="0">
                <a:solidFill>
                  <a:schemeClr val="tx1">
                    <a:lumMod val="85000"/>
                  </a:schemeClr>
                </a:solidFill>
              </a:rPr>
              <a:t> Python</a:t>
            </a:r>
          </a:p>
          <a:p>
            <a:r>
              <a:rPr lang="en-US" sz="2800" dirty="0" err="1">
                <a:solidFill>
                  <a:schemeClr val="tx1">
                    <a:lumMod val="85000"/>
                  </a:schemeClr>
                </a:solidFill>
              </a:rPr>
              <a:t>Apa</a:t>
            </a:r>
            <a:r>
              <a:rPr lang="en-US" sz="28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85000"/>
                  </a:schemeClr>
                </a:solidFill>
              </a:rPr>
              <a:t>saja</a:t>
            </a:r>
            <a:r>
              <a:rPr lang="en-US" sz="28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85000"/>
                  </a:schemeClr>
                </a:solidFill>
              </a:rPr>
              <a:t>alat-alat</a:t>
            </a:r>
            <a:r>
              <a:rPr lang="en-US" sz="2800" dirty="0">
                <a:solidFill>
                  <a:schemeClr val="tx1">
                    <a:lumMod val="85000"/>
                  </a:schemeClr>
                </a:solidFill>
              </a:rPr>
              <a:t> yang </a:t>
            </a:r>
            <a:r>
              <a:rPr lang="en-US" sz="2800" dirty="0" err="1">
                <a:solidFill>
                  <a:schemeClr val="tx1">
                    <a:lumMod val="85000"/>
                  </a:schemeClr>
                </a:solidFill>
              </a:rPr>
              <a:t>harus</a:t>
            </a:r>
            <a:r>
              <a:rPr lang="en-US" sz="28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85000"/>
                  </a:schemeClr>
                </a:solidFill>
              </a:rPr>
              <a:t>dipersiapkan</a:t>
            </a:r>
            <a:r>
              <a:rPr lang="en-US" sz="28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85000"/>
                  </a:schemeClr>
                </a:solidFill>
              </a:rPr>
              <a:t>untuk</a:t>
            </a:r>
            <a:r>
              <a:rPr lang="en-US" sz="28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85000"/>
                  </a:schemeClr>
                </a:solidFill>
              </a:rPr>
              <a:t>belajar</a:t>
            </a:r>
            <a:r>
              <a:rPr lang="en-US" sz="28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85000"/>
                  </a:schemeClr>
                </a:solidFill>
              </a:rPr>
              <a:t>pemrograman</a:t>
            </a:r>
            <a:r>
              <a:rPr lang="en-US" sz="2800" dirty="0">
                <a:solidFill>
                  <a:schemeClr val="tx1">
                    <a:lumMod val="85000"/>
                  </a:schemeClr>
                </a:solidFill>
              </a:rPr>
              <a:t> python</a:t>
            </a:r>
            <a:r>
              <a:rPr lang="en-US" sz="2800" dirty="0" smtClean="0">
                <a:solidFill>
                  <a:schemeClr val="tx1">
                    <a:lumMod val="85000"/>
                  </a:schemeClr>
                </a:solidFill>
              </a:rPr>
              <a:t>?</a:t>
            </a:r>
          </a:p>
          <a:p>
            <a:endParaRPr lang="en-US" sz="2800" dirty="0">
              <a:solidFill>
                <a:schemeClr val="tx1">
                  <a:lumMod val="85000"/>
                </a:schemeClr>
              </a:solidFill>
            </a:endParaRPr>
          </a:p>
          <a:p>
            <a:pPr>
              <a:buFont typeface="+mj-lt"/>
              <a:buAutoNum type="arabicPeriod"/>
            </a:pPr>
            <a:r>
              <a:rPr lang="en-US" sz="2800" b="1" dirty="0">
                <a:solidFill>
                  <a:schemeClr val="tx1">
                    <a:lumMod val="85000"/>
                  </a:schemeClr>
                </a:solidFill>
              </a:rPr>
              <a:t>Python</a:t>
            </a:r>
            <a:r>
              <a:rPr lang="en-US" sz="2800" dirty="0">
                <a:solidFill>
                  <a:schemeClr val="tx1">
                    <a:lumMod val="85000"/>
                  </a:schemeClr>
                </a:solidFill>
              </a:rPr>
              <a:t>: Interpreter yang </a:t>
            </a:r>
            <a:r>
              <a:rPr lang="en-US" sz="2800" dirty="0" err="1">
                <a:solidFill>
                  <a:schemeClr val="tx1">
                    <a:lumMod val="85000"/>
                  </a:schemeClr>
                </a:solidFill>
              </a:rPr>
              <a:t>menerjemahkan</a:t>
            </a:r>
            <a:r>
              <a:rPr lang="en-US" sz="28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85000"/>
                  </a:schemeClr>
                </a:solidFill>
              </a:rPr>
              <a:t>bahasa</a:t>
            </a:r>
            <a:r>
              <a:rPr lang="en-US" sz="2800" dirty="0">
                <a:solidFill>
                  <a:schemeClr val="tx1">
                    <a:lumMod val="85000"/>
                  </a:schemeClr>
                </a:solidFill>
              </a:rPr>
              <a:t> python </a:t>
            </a:r>
            <a:r>
              <a:rPr lang="en-US" sz="2800" dirty="0" err="1">
                <a:solidFill>
                  <a:schemeClr val="tx1">
                    <a:lumMod val="85000"/>
                  </a:schemeClr>
                </a:solidFill>
              </a:rPr>
              <a:t>ke</a:t>
            </a:r>
            <a:r>
              <a:rPr lang="en-US" sz="28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85000"/>
                  </a:schemeClr>
                </a:solidFill>
              </a:rPr>
              <a:t>bahasa</a:t>
            </a:r>
            <a:r>
              <a:rPr lang="en-US" sz="28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85000"/>
                  </a:schemeClr>
                </a:solidFill>
              </a:rPr>
              <a:t>mesin</a:t>
            </a:r>
            <a:r>
              <a:rPr lang="en-US" sz="2800" dirty="0">
                <a:solidFill>
                  <a:schemeClr val="tx1">
                    <a:lumMod val="85000"/>
                  </a:schemeClr>
                </a:solidFill>
              </a:rPr>
              <a:t>, </a:t>
            </a:r>
            <a:r>
              <a:rPr lang="en-US" sz="2800" dirty="0" err="1">
                <a:solidFill>
                  <a:schemeClr val="tx1">
                    <a:lumMod val="85000"/>
                  </a:schemeClr>
                </a:solidFill>
              </a:rPr>
              <a:t>sehingga</a:t>
            </a:r>
            <a:r>
              <a:rPr lang="en-US" sz="2800" dirty="0">
                <a:solidFill>
                  <a:schemeClr val="tx1">
                    <a:lumMod val="85000"/>
                  </a:schemeClr>
                </a:solidFill>
              </a:rPr>
              <a:t> program </a:t>
            </a:r>
            <a:r>
              <a:rPr lang="en-US" sz="2800" dirty="0" err="1">
                <a:solidFill>
                  <a:schemeClr val="tx1">
                    <a:lumMod val="85000"/>
                  </a:schemeClr>
                </a:solidFill>
              </a:rPr>
              <a:t>bisa</a:t>
            </a:r>
            <a:r>
              <a:rPr lang="en-US" sz="28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85000"/>
                  </a:schemeClr>
                </a:solidFill>
              </a:rPr>
              <a:t>dijalankan</a:t>
            </a:r>
            <a:r>
              <a:rPr lang="en-US" sz="2800" dirty="0" smtClean="0">
                <a:solidFill>
                  <a:schemeClr val="tx1">
                    <a:lumMod val="85000"/>
                  </a:schemeClr>
                </a:solidFill>
              </a:rPr>
              <a:t>.</a:t>
            </a:r>
          </a:p>
          <a:p>
            <a:endParaRPr lang="en-US" sz="2800" dirty="0" smtClean="0">
              <a:solidFill>
                <a:schemeClr val="tx1">
                  <a:lumMod val="85000"/>
                </a:schemeClr>
              </a:solidFill>
            </a:endParaRPr>
          </a:p>
          <a:p>
            <a:r>
              <a:rPr lang="en-US" sz="2800" b="1" dirty="0" smtClean="0">
                <a:solidFill>
                  <a:schemeClr val="tx1">
                    <a:lumMod val="85000"/>
                  </a:schemeClr>
                </a:solidFill>
              </a:rPr>
              <a:t>2.Teks </a:t>
            </a:r>
            <a:r>
              <a:rPr lang="en-US" sz="2800" b="1" dirty="0">
                <a:solidFill>
                  <a:schemeClr val="tx1">
                    <a:lumMod val="85000"/>
                  </a:schemeClr>
                </a:solidFill>
              </a:rPr>
              <a:t>Editor/IDE</a:t>
            </a:r>
            <a:r>
              <a:rPr lang="en-US" sz="2800" dirty="0">
                <a:solidFill>
                  <a:schemeClr val="tx1">
                    <a:lumMod val="85000"/>
                  </a:schemeClr>
                </a:solidFill>
              </a:rPr>
              <a:t>: Program yang </a:t>
            </a:r>
            <a:r>
              <a:rPr lang="en-US" sz="2800" dirty="0" err="1">
                <a:solidFill>
                  <a:schemeClr val="tx1">
                    <a:lumMod val="85000"/>
                  </a:schemeClr>
                </a:solidFill>
              </a:rPr>
              <a:t>digunakan</a:t>
            </a:r>
            <a:r>
              <a:rPr lang="en-US" sz="28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85000"/>
                  </a:schemeClr>
                </a:solidFill>
              </a:rPr>
              <a:t>untuk</a:t>
            </a:r>
            <a:r>
              <a:rPr lang="en-US" sz="28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85000"/>
                  </a:schemeClr>
                </a:solidFill>
              </a:rPr>
              <a:t>menulis</a:t>
            </a:r>
            <a:r>
              <a:rPr lang="en-US" sz="28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85000"/>
                  </a:schemeClr>
                </a:solidFill>
              </a:rPr>
              <a:t>kode</a:t>
            </a:r>
            <a:r>
              <a:rPr lang="en-US" sz="2400" dirty="0">
                <a:solidFill>
                  <a:schemeClr val="tx1">
                    <a:lumMod val="85000"/>
                  </a:schemeClr>
                </a:solidFill>
                <a:latin typeface="Georgia" panose="02040502050405020303" pitchFamily="18" charset="0"/>
              </a:rPr>
              <a:t>.</a:t>
            </a:r>
            <a:endParaRPr lang="en-US" sz="2400" b="0" i="0" dirty="0">
              <a:solidFill>
                <a:schemeClr val="tx1">
                  <a:lumMod val="85000"/>
                </a:schemeClr>
              </a:solidFill>
              <a:effectLst/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3020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Pemrograman Pyth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1153" y="789303"/>
            <a:ext cx="6858000" cy="361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1359876" y="5780782"/>
            <a:ext cx="985207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Jangan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lupa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untuk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mengaktifkan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 </a:t>
            </a:r>
            <a:r>
              <a:rPr lang="en-US" sz="2000" b="1" i="1" dirty="0">
                <a:solidFill>
                  <a:schemeClr val="tx1">
                    <a:lumMod val="85000"/>
                  </a:schemeClr>
                </a:solidFill>
              </a:rPr>
              <a:t>‘Add python.exe to path’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 agar </a:t>
            </a:r>
            <a:r>
              <a:rPr lang="en-US" sz="2000" dirty="0" err="1" smtClean="0">
                <a:solidFill>
                  <a:schemeClr val="tx1">
                    <a:lumMod val="85000"/>
                  </a:schemeClr>
                </a:solidFill>
              </a:rPr>
              <a:t>perintah</a:t>
            </a:r>
            <a:r>
              <a:rPr lang="en-US" sz="2000" dirty="0" smtClean="0">
                <a:solidFill>
                  <a:schemeClr val="tx1">
                    <a:lumMod val="85000"/>
                  </a:schemeClr>
                </a:solidFill>
              </a:rPr>
              <a:t> python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 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dikenali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pada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CMD </a:t>
            </a:r>
            <a:r>
              <a:rPr lang="en-US" sz="2000" i="1" dirty="0">
                <a:solidFill>
                  <a:schemeClr val="tx1">
                    <a:lumMod val="85000"/>
                  </a:schemeClr>
                </a:solidFill>
              </a:rPr>
              <a:t>(Command Prompt)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.</a:t>
            </a:r>
            <a:r>
              <a:rPr lang="en-US" sz="1400" dirty="0"/>
              <a:t/>
            </a:r>
            <a:br>
              <a:rPr lang="en-US" sz="1400" dirty="0"/>
            </a:br>
            <a:endParaRPr lang="en-US" sz="2400" dirty="0"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359876" y="4866474"/>
            <a:ext cx="955665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err="1" smtClean="0">
                <a:solidFill>
                  <a:schemeClr val="tx1">
                    <a:lumMod val="85000"/>
                  </a:schemeClr>
                </a:solidFill>
              </a:rPr>
              <a:t>Instalasi</a:t>
            </a:r>
            <a:r>
              <a:rPr lang="en-US" sz="2000" dirty="0" smtClean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python di Windows </a:t>
            </a:r>
            <a:r>
              <a:rPr lang="en-US" sz="2000" dirty="0" err="1" smtClean="0">
                <a:solidFill>
                  <a:schemeClr val="tx1">
                    <a:lumMod val="85000"/>
                  </a:schemeClr>
                </a:solidFill>
              </a:rPr>
              <a:t>Cukup</a:t>
            </a:r>
            <a:r>
              <a:rPr lang="en-US" sz="2000" dirty="0" smtClean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 smtClean="0">
                <a:solidFill>
                  <a:schemeClr val="tx1">
                    <a:lumMod val="85000"/>
                  </a:schemeClr>
                </a:solidFill>
              </a:rPr>
              <a:t>mudah</a:t>
            </a:r>
            <a:r>
              <a:rPr lang="en-US" sz="2000" dirty="0" smtClean="0">
                <a:solidFill>
                  <a:schemeClr val="tx1">
                    <a:lumMod val="85000"/>
                  </a:schemeClr>
                </a:solidFill>
              </a:rPr>
              <a:t> .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Langkah-langkanya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sama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seperti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menginstal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software Windows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pada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umumnya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, </a:t>
            </a:r>
            <a:r>
              <a:rPr lang="en-US" sz="2000" i="1" dirty="0">
                <a:solidFill>
                  <a:schemeClr val="tx1">
                    <a:lumMod val="85000"/>
                  </a:schemeClr>
                </a:solidFill>
              </a:rPr>
              <a:t>next-next-finish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54119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473281" y="177578"/>
            <a:ext cx="28825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85000"/>
                  </a:schemeClr>
                </a:solidFill>
              </a:rPr>
              <a:t>UJI COBA PYTHON</a:t>
            </a:r>
            <a:endParaRPr lang="en-US" sz="2400" b="1" i="0" dirty="0">
              <a:solidFill>
                <a:schemeClr val="tx1">
                  <a:lumMod val="85000"/>
                </a:schemeClr>
              </a:solidFill>
              <a:effectLst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59829" y="1433956"/>
            <a:ext cx="1063652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tx1">
                    <a:lumMod val="85000"/>
                  </a:schemeClr>
                </a:solidFill>
              </a:rPr>
              <a:t>Pertama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,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</a:rPr>
              <a:t>kita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</a:rPr>
              <a:t>coba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</a:rPr>
              <a:t>dulu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</a:rPr>
              <a:t>membuka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 </a:t>
            </a:r>
            <a:r>
              <a:rPr lang="en-US" b="1" dirty="0">
                <a:solidFill>
                  <a:schemeClr val="tx1">
                    <a:lumMod val="85000"/>
                  </a:schemeClr>
                </a:solidFill>
              </a:rPr>
              <a:t>Python Shell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.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</a:rPr>
              <a:t>Silahkan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</a:rPr>
              <a:t>buka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 Start Menu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</a:rPr>
              <a:t>kemudian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</a:rPr>
              <a:t>cari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 </a:t>
            </a:r>
            <a:r>
              <a:rPr lang="en-US" b="1" i="1" dirty="0">
                <a:solidFill>
                  <a:schemeClr val="tx1">
                    <a:lumMod val="85000"/>
                  </a:schemeClr>
                </a:solidFill>
              </a:rPr>
              <a:t>Python Shell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.</a:t>
            </a:r>
            <a:br>
              <a:rPr lang="en-US" dirty="0">
                <a:solidFill>
                  <a:schemeClr val="tx1">
                    <a:lumMod val="85000"/>
                  </a:schemeClr>
                </a:solidFill>
              </a:rPr>
            </a:br>
            <a:endParaRPr lang="en-US" dirty="0">
              <a:solidFill>
                <a:schemeClr val="tx1">
                  <a:lumMod val="85000"/>
                </a:schemeClr>
              </a:solidFill>
            </a:endParaRPr>
          </a:p>
        </p:txBody>
      </p:sp>
      <p:pic>
        <p:nvPicPr>
          <p:cNvPr id="2050" name="Picture 2" descr="Python Shell di Window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9290" y="2357286"/>
            <a:ext cx="8158431" cy="4259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648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56491" y="1417712"/>
            <a:ext cx="1052732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Kemudian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kita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coba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Python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dari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CMD,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ketik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perintah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 python 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untuk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masuk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 smtClean="0">
                <a:solidFill>
                  <a:schemeClr val="tx1">
                    <a:lumMod val="85000"/>
                  </a:schemeClr>
                </a:solidFill>
              </a:rPr>
              <a:t>ke</a:t>
            </a:r>
            <a:r>
              <a:rPr lang="en-US" sz="2000" dirty="0" smtClean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i="1" dirty="0" smtClean="0">
                <a:solidFill>
                  <a:schemeClr val="tx1">
                    <a:lumMod val="85000"/>
                  </a:schemeClr>
                </a:solidFill>
              </a:rPr>
              <a:t>Python </a:t>
            </a:r>
            <a:r>
              <a:rPr lang="en-US" sz="2000" i="1" dirty="0">
                <a:solidFill>
                  <a:schemeClr val="tx1">
                    <a:lumMod val="85000"/>
                  </a:schemeClr>
                </a:solidFill>
              </a:rPr>
              <a:t>Shell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 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dari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CMD. </a:t>
            </a:r>
          </a:p>
        </p:txBody>
      </p:sp>
      <p:pic>
        <p:nvPicPr>
          <p:cNvPr id="3075" name="Picture 3" descr="Membuka python shell dari CM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4848" y="2475326"/>
            <a:ext cx="8070608" cy="4071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7497022" y="247915"/>
            <a:ext cx="28825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tx1">
                    <a:lumMod val="85000"/>
                  </a:schemeClr>
                </a:solidFill>
              </a:rPr>
              <a:t>UJI COBA PYTHON</a:t>
            </a:r>
            <a:endParaRPr lang="en-US" sz="2400" b="1" dirty="0">
              <a:solidFill>
                <a:schemeClr val="tx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4057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92369" y="1859340"/>
            <a:ext cx="11057205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solidFill>
                  <a:schemeClr val="tx1">
                    <a:lumMod val="85000"/>
                  </a:schemeClr>
                </a:solidFill>
                <a:latin typeface="-apple-system"/>
              </a:rPr>
              <a:t>Syntax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  <a:latin typeface="-apple-system"/>
              </a:rPr>
              <a:t>Dasar</a:t>
            </a:r>
            <a:endParaRPr lang="en-US" sz="2000" dirty="0">
              <a:solidFill>
                <a:schemeClr val="tx1">
                  <a:lumMod val="85000"/>
                </a:schemeClr>
              </a:solidFill>
              <a:latin typeface="-apple-system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-apple-system"/>
              </a:rPr>
              <a:t>Dibawah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-apple-system"/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-apple-system"/>
              </a:rPr>
              <a:t>ini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-apple-system"/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-apple-system"/>
              </a:rPr>
              <a:t>adalah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-apple-system"/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-apple-system"/>
              </a:rPr>
              <a:t>contoh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-apple-system"/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-apple-system"/>
              </a:rPr>
              <a:t>fungsi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-apple-system"/>
              </a:rPr>
              <a:t> Python yang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-apple-system"/>
              </a:rPr>
              <a:t>digunakan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-apple-system"/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-apple-system"/>
              </a:rPr>
              <a:t>untuk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-apple-system"/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-apple-system"/>
              </a:rPr>
              <a:t>mencetak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-apple-system"/>
              </a:rPr>
              <a:t>. Di Python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-apple-system"/>
              </a:rPr>
              <a:t>untuk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-apple-system"/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-apple-system"/>
              </a:rPr>
              <a:t>mencetak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-apple-system"/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-apple-system"/>
              </a:rPr>
              <a:t>cukup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-apple-system"/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-apple-system"/>
              </a:rPr>
              <a:t>gunakan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-apple-system"/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-apple-system"/>
              </a:rPr>
              <a:t>fungsi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-apple-system"/>
              </a:rPr>
              <a:t> </a:t>
            </a:r>
            <a:r>
              <a:rPr lang="en-US" sz="1200" dirty="0">
                <a:solidFill>
                  <a:schemeClr val="tx1">
                    <a:lumMod val="85000"/>
                  </a:schemeClr>
                </a:solidFill>
                <a:latin typeface="SFMono-Regular"/>
              </a:rPr>
              <a:t>print()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-apple-system"/>
              </a:rPr>
              <a:t> ,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-apple-system"/>
              </a:rPr>
              <a:t>dimana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-apple-system"/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-apple-system"/>
              </a:rPr>
              <a:t>sesuatu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-apple-system"/>
              </a:rPr>
              <a:t> yang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-apple-system"/>
              </a:rPr>
              <a:t>akan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-apple-system"/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-apple-system"/>
              </a:rPr>
              <a:t>dicetak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-apple-system"/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-apple-system"/>
              </a:rPr>
              <a:t>harus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-apple-system"/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-apple-system"/>
              </a:rPr>
              <a:t>diletakkan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-apple-system"/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-apple-system"/>
              </a:rPr>
              <a:t>diantara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-apple-system"/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-apple-system"/>
              </a:rPr>
              <a:t>kurung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-apple-system"/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-apple-system"/>
              </a:rPr>
              <a:t>buka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-apple-system"/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-apple-system"/>
              </a:rPr>
              <a:t>dan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-apple-system"/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-apple-system"/>
              </a:rPr>
              <a:t>kurung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-apple-system"/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-apple-system"/>
              </a:rPr>
              <a:t>tutup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-apple-system"/>
              </a:rPr>
              <a:t>,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-apple-system"/>
              </a:rPr>
              <a:t>bahkan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-apple-system"/>
              </a:rPr>
              <a:t> di Python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-apple-system"/>
              </a:rPr>
              <a:t>versi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-apple-system"/>
              </a:rPr>
              <a:t> 2.x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-apple-system"/>
              </a:rPr>
              <a:t>Anda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-apple-system"/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-apple-system"/>
              </a:rPr>
              <a:t>tidak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-apple-system"/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-apple-system"/>
              </a:rPr>
              <a:t>harus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-apple-system"/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-apple-system"/>
              </a:rPr>
              <a:t>menggunakan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-apple-system"/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-apple-system"/>
              </a:rPr>
              <a:t>tanda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-apple-system"/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-apple-system"/>
              </a:rPr>
              <a:t>kurung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-apple-system"/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-apple-system"/>
              </a:rPr>
              <a:t>kurawal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-apple-system"/>
              </a:rPr>
              <a:t>,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-apple-system"/>
              </a:rPr>
              <a:t>cukup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-apple-system"/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-apple-system"/>
              </a:rPr>
              <a:t>pisahkan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-apple-system"/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-apple-system"/>
              </a:rPr>
              <a:t>dengan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-apple-system"/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-apple-system"/>
              </a:rPr>
              <a:t>spasi</a:t>
            </a:r>
            <a:r>
              <a:rPr lang="en-US" dirty="0" smtClean="0">
                <a:solidFill>
                  <a:schemeClr val="tx1">
                    <a:lumMod val="85000"/>
                  </a:schemeClr>
                </a:solidFill>
                <a:latin typeface="-apple-system"/>
              </a:rPr>
              <a:t>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chemeClr val="tx1">
                  <a:lumMod val="85000"/>
                </a:schemeClr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-apple-system"/>
              </a:rPr>
              <a:t>Jika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-apple-system"/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-apple-system"/>
              </a:rPr>
              <a:t>ingin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-apple-system"/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-apple-system"/>
              </a:rPr>
              <a:t>mencetak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-apple-system"/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-apple-system"/>
              </a:rPr>
              <a:t>tipe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-apple-system"/>
              </a:rPr>
              <a:t> data String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-apple-system"/>
              </a:rPr>
              <a:t>langsung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-apple-system"/>
              </a:rPr>
              <a:t>,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-apple-system"/>
              </a:rPr>
              <a:t>Anda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-apple-system"/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-apple-system"/>
              </a:rPr>
              <a:t>harus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-apple-system"/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-apple-system"/>
              </a:rPr>
              <a:t>memasukanya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-apple-system"/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-apple-system"/>
              </a:rPr>
              <a:t>ke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-apple-system"/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-apple-system"/>
              </a:rPr>
              <a:t>dalam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-apple-system"/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-apple-system"/>
              </a:rPr>
              <a:t>tanda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-apple-system"/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-apple-system"/>
              </a:rPr>
              <a:t>kutip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-apple-system"/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-apple-system"/>
              </a:rPr>
              <a:t>terlebih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-apple-system"/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-apple-system"/>
              </a:rPr>
              <a:t>dahulu</a:t>
            </a:r>
            <a:r>
              <a:rPr lang="en-US" dirty="0" smtClean="0">
                <a:solidFill>
                  <a:schemeClr val="tx1">
                    <a:lumMod val="85000"/>
                  </a:schemeClr>
                </a:solidFill>
                <a:latin typeface="-apple-system"/>
              </a:rPr>
              <a:t>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00" b="1" dirty="0">
              <a:solidFill>
                <a:srgbClr val="212529"/>
              </a:solidFill>
              <a:latin typeface="SFMono-Regular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rgbClr val="212529"/>
                </a:solidFill>
                <a:latin typeface="SFMono-Regular"/>
              </a:rPr>
              <a:t>print</a:t>
            </a:r>
            <a:r>
              <a:rPr lang="en-US" dirty="0">
                <a:solidFill>
                  <a:srgbClr val="212529"/>
                </a:solidFill>
                <a:latin typeface="SFMono-Regular"/>
              </a:rPr>
              <a:t>(</a:t>
            </a:r>
            <a:r>
              <a:rPr lang="en-US" dirty="0">
                <a:solidFill>
                  <a:srgbClr val="DD1144"/>
                </a:solidFill>
                <a:latin typeface="SFMono-Regular"/>
              </a:rPr>
              <a:t>"Hello World"</a:t>
            </a:r>
            <a:r>
              <a:rPr lang="en-US" dirty="0">
                <a:solidFill>
                  <a:srgbClr val="212529"/>
                </a:solidFill>
                <a:latin typeface="SFMono-Regular"/>
              </a:rPr>
              <a:t>)</a:t>
            </a:r>
            <a:r>
              <a:rPr lang="en-US" sz="2400" dirty="0"/>
              <a:t> </a:t>
            </a:r>
            <a:endParaRPr lang="en-US" sz="4000" dirty="0"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998100" y="247917"/>
            <a:ext cx="21371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 smtClean="0">
                <a:solidFill>
                  <a:schemeClr val="tx1">
                    <a:lumMod val="85000"/>
                  </a:schemeClr>
                </a:solidFill>
              </a:rPr>
              <a:t>Syntax </a:t>
            </a:r>
            <a:r>
              <a:rPr lang="en-US" sz="2400" b="1" dirty="0" err="1" smtClean="0">
                <a:solidFill>
                  <a:schemeClr val="tx1">
                    <a:lumMod val="85000"/>
                  </a:schemeClr>
                </a:solidFill>
              </a:rPr>
              <a:t>Dasar</a:t>
            </a:r>
            <a:endParaRPr lang="en-US" sz="2400" b="1" dirty="0">
              <a:solidFill>
                <a:schemeClr val="tx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2383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26830" y="2118772"/>
            <a:ext cx="1090715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Python Case </a:t>
            </a:r>
            <a:r>
              <a:rPr lang="en-US" sz="2000" dirty="0" smtClean="0">
                <a:solidFill>
                  <a:schemeClr val="tx1">
                    <a:lumMod val="85000"/>
                  </a:schemeClr>
                </a:solidFill>
              </a:rPr>
              <a:t>Sensitivity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chemeClr val="tx1">
                  <a:lumMod val="85000"/>
                </a:schemeClr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Python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bersifat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case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sensitif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,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ini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artinya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huruf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besar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dan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huruf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kecil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memiliki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perbedaan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.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Sebagai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contoh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jika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Anda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menggunakan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fungsi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print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dengan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huruf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kecil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 </a:t>
            </a:r>
            <a:r>
              <a:rPr lang="en-US" sz="20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print()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 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akan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berhasil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. Lain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hal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jika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anda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menggunakan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huruf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kapital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 </a:t>
            </a:r>
            <a:r>
              <a:rPr lang="en-US" sz="20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Print()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 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atau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 </a:t>
            </a:r>
            <a:r>
              <a:rPr lang="en-US" sz="20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PRINT()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 ,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akan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muncul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pesan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error.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Aturan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ini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berlaku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untuk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nama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variabel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ataupun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fungsi-fungsi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lainnya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6784720" y="261983"/>
            <a:ext cx="35782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chemeClr val="tx1">
                    <a:lumMod val="85000"/>
                  </a:schemeClr>
                </a:solidFill>
              </a:rPr>
              <a:t>Python Case Sensitivity</a:t>
            </a:r>
            <a:endParaRPr lang="en-US" sz="2400" b="1" dirty="0">
              <a:solidFill>
                <a:schemeClr val="tx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09177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8676" y="1196983"/>
            <a:ext cx="1121664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Komentar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(comment)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adalah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kode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di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dalam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script Python yang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tidak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dieksekusi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atau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tidak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dijalankan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mesin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.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Komentar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hanya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digunakan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untuk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menandai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atau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memberikan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keterangan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tertulis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pada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script.</a:t>
            </a:r>
          </a:p>
        </p:txBody>
      </p:sp>
      <p:sp>
        <p:nvSpPr>
          <p:cNvPr id="3" name="Rectangle 2"/>
          <p:cNvSpPr/>
          <p:nvPr/>
        </p:nvSpPr>
        <p:spPr>
          <a:xfrm>
            <a:off x="8562797" y="304186"/>
            <a:ext cx="18341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85000"/>
                  </a:schemeClr>
                </a:solidFill>
              </a:rPr>
              <a:t>KOMENTAR</a:t>
            </a:r>
            <a:endParaRPr lang="en-US" sz="2400" b="1" dirty="0"/>
          </a:p>
        </p:txBody>
      </p:sp>
      <p:sp>
        <p:nvSpPr>
          <p:cNvPr id="5" name="Rectangle 4"/>
          <p:cNvSpPr/>
          <p:nvPr/>
        </p:nvSpPr>
        <p:spPr>
          <a:xfrm>
            <a:off x="538676" y="2545304"/>
            <a:ext cx="1154957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Untuk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menggunakan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komentar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anda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cukup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menulis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tanda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pagar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 </a:t>
            </a:r>
            <a:r>
              <a:rPr lang="en-US" sz="20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#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,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diikuti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dengan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komentar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Anda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.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256" y="3782796"/>
            <a:ext cx="10317480" cy="2453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027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22030" y="1168849"/>
            <a:ext cx="1083212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tx1">
                    <a:lumMod val="85000"/>
                  </a:schemeClr>
                </a:solidFill>
              </a:rPr>
              <a:t>Variabel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</a:rPr>
              <a:t>adalah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</a:rPr>
              <a:t>lokasi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</a:rPr>
              <a:t>memori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 yang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</a:rPr>
              <a:t>dicadangkan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</a:rPr>
              <a:t>untuk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</a:rPr>
              <a:t>menyimpan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</a:rPr>
              <a:t>nilai-nilai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.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</a:rPr>
              <a:t>Ini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</a:rPr>
              <a:t>berarti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</a:rPr>
              <a:t>bahwa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</a:rPr>
              <a:t>ketika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</a:rPr>
              <a:t>Anda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</a:rPr>
              <a:t>membuat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</a:rPr>
              <a:t>sebuah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</a:rPr>
              <a:t>variabel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</a:rPr>
              <a:t>Anda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</a:rPr>
              <a:t>memesan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</a:rPr>
              <a:t>beberapa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</a:rPr>
              <a:t>ruang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 di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</a:rPr>
              <a:t>memori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.</a:t>
            </a:r>
          </a:p>
        </p:txBody>
      </p:sp>
      <p:sp>
        <p:nvSpPr>
          <p:cNvPr id="3" name="Rectangle 2"/>
          <p:cNvSpPr/>
          <p:nvPr/>
        </p:nvSpPr>
        <p:spPr>
          <a:xfrm>
            <a:off x="8692087" y="374524"/>
            <a:ext cx="15311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85000"/>
                  </a:schemeClr>
                </a:solidFill>
              </a:rPr>
              <a:t>Variabel</a:t>
            </a:r>
            <a:r>
              <a:rPr lang="en-US" sz="2400" b="1" dirty="0">
                <a:solidFill>
                  <a:schemeClr val="tx1">
                    <a:lumMod val="85000"/>
                  </a:schemeClr>
                </a:solidFill>
              </a:rPr>
              <a:t> </a:t>
            </a:r>
            <a:endParaRPr lang="en-US" sz="24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342" y="2419642"/>
            <a:ext cx="10107786" cy="3898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493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EE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81465" y="1109683"/>
            <a:ext cx="1161053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Operator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adalah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konstruksi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yang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dapat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memanipulasi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nilai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dari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operan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Sebagai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contoh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operasi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3 + 2 = 5.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Disini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 </a:t>
            </a:r>
            <a:r>
              <a:rPr lang="en-US" sz="20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3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 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dan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 </a:t>
            </a:r>
            <a:r>
              <a:rPr lang="en-US" sz="20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2 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adalah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operan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dan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 </a:t>
            </a:r>
            <a:r>
              <a:rPr lang="en-US" sz="20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+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 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adalah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operator.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2730" y="315324"/>
            <a:ext cx="17475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85000"/>
                  </a:schemeClr>
                </a:solidFill>
              </a:rPr>
              <a:t>OPERATOR</a:t>
            </a:r>
            <a:endParaRPr lang="en-US" sz="24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22" y="2576046"/>
            <a:ext cx="10619352" cy="175960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22" y="4668342"/>
            <a:ext cx="10619352" cy="1818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4149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15816" y="1337660"/>
            <a:ext cx="1113223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Pengambilan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keputusan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(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kondisi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if)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digunakan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untuk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mengantisipasi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kondisi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yang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terjadi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saat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jalanya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program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dan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menentukan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tindakan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apa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yang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akan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diambil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sesuai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dengan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kondisi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.</a:t>
            </a:r>
          </a:p>
        </p:txBody>
      </p:sp>
      <p:sp>
        <p:nvSpPr>
          <p:cNvPr id="3" name="Rectangle 2"/>
          <p:cNvSpPr/>
          <p:nvPr/>
        </p:nvSpPr>
        <p:spPr>
          <a:xfrm>
            <a:off x="8492209" y="290118"/>
            <a:ext cx="17299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85000"/>
                  </a:schemeClr>
                </a:solidFill>
              </a:rPr>
              <a:t>KONDISI IF</a:t>
            </a:r>
            <a:endParaRPr lang="en-US" sz="2400" b="1" dirty="0">
              <a:solidFill>
                <a:schemeClr val="tx1">
                  <a:lumMod val="85000"/>
                </a:schemeClr>
              </a:solidFill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815924" y="3002824"/>
            <a:ext cx="10002131" cy="2554545"/>
          </a:xfrm>
          <a:prstGeom prst="rect">
            <a:avLst/>
          </a:prstGeom>
          <a:solidFill>
            <a:srgbClr val="EE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1" u="none" strike="noStrike" cap="none" normalizeH="0" baseline="0" dirty="0" smtClean="0">
                <a:ln>
                  <a:noFill/>
                </a:ln>
                <a:solidFill>
                  <a:srgbClr val="999988"/>
                </a:solidFill>
                <a:effectLst/>
                <a:latin typeface="SFMono-Regular"/>
              </a:rPr>
              <a:t>#</a:t>
            </a:r>
            <a:r>
              <a:rPr kumimoji="0" lang="en-US" sz="2000" b="0" i="1" u="none" strike="noStrike" cap="none" normalizeH="0" baseline="0" dirty="0" err="1" smtClean="0">
                <a:ln>
                  <a:noFill/>
                </a:ln>
                <a:solidFill>
                  <a:srgbClr val="999988"/>
                </a:solidFill>
                <a:effectLst/>
                <a:latin typeface="SFMono-Regular"/>
              </a:rPr>
              <a:t>Kondisi</a:t>
            </a:r>
            <a:r>
              <a:rPr kumimoji="0" lang="en-US" sz="2000" b="0" i="1" u="none" strike="noStrike" cap="none" normalizeH="0" baseline="0" dirty="0" smtClean="0">
                <a:ln>
                  <a:noFill/>
                </a:ln>
                <a:solidFill>
                  <a:srgbClr val="999988"/>
                </a:solidFill>
                <a:effectLst/>
                <a:latin typeface="SFMono-Regular"/>
              </a:rPr>
              <a:t> if else </a:t>
            </a:r>
            <a:r>
              <a:rPr kumimoji="0" lang="en-US" sz="2000" b="0" i="1" u="none" strike="noStrike" cap="none" normalizeH="0" baseline="0" dirty="0" err="1" smtClean="0">
                <a:ln>
                  <a:noFill/>
                </a:ln>
                <a:solidFill>
                  <a:srgbClr val="999988"/>
                </a:solidFill>
                <a:effectLst/>
                <a:latin typeface="SFMono-Regular"/>
              </a:rPr>
              <a:t>adalah</a:t>
            </a:r>
            <a:r>
              <a:rPr kumimoji="0" lang="en-US" sz="2000" b="0" i="1" u="none" strike="noStrike" cap="none" normalizeH="0" baseline="0" dirty="0" smtClean="0">
                <a:ln>
                  <a:noFill/>
                </a:ln>
                <a:solidFill>
                  <a:srgbClr val="999988"/>
                </a:solidFill>
                <a:effectLst/>
                <a:latin typeface="SFMono-Regular"/>
              </a:rPr>
              <a:t> </a:t>
            </a:r>
            <a:r>
              <a:rPr kumimoji="0" lang="en-US" sz="2000" b="0" i="1" u="none" strike="noStrike" cap="none" normalizeH="0" baseline="0" dirty="0" err="1" smtClean="0">
                <a:ln>
                  <a:noFill/>
                </a:ln>
                <a:solidFill>
                  <a:srgbClr val="999988"/>
                </a:solidFill>
                <a:effectLst/>
                <a:latin typeface="SFMono-Regular"/>
              </a:rPr>
              <a:t>jika</a:t>
            </a:r>
            <a:r>
              <a:rPr kumimoji="0" lang="en-US" sz="2000" b="0" i="1" u="none" strike="noStrike" cap="none" normalizeH="0" baseline="0" dirty="0" smtClean="0">
                <a:ln>
                  <a:noFill/>
                </a:ln>
                <a:solidFill>
                  <a:srgbClr val="999988"/>
                </a:solidFill>
                <a:effectLst/>
                <a:latin typeface="SFMono-Regular"/>
              </a:rPr>
              <a:t> </a:t>
            </a:r>
            <a:r>
              <a:rPr kumimoji="0" lang="en-US" sz="2000" b="0" i="1" u="none" strike="noStrike" cap="none" normalizeH="0" baseline="0" dirty="0" err="1" smtClean="0">
                <a:ln>
                  <a:noFill/>
                </a:ln>
                <a:solidFill>
                  <a:srgbClr val="999988"/>
                </a:solidFill>
                <a:effectLst/>
                <a:latin typeface="SFMono-Regular"/>
              </a:rPr>
              <a:t>kondisi</a:t>
            </a:r>
            <a:r>
              <a:rPr kumimoji="0" lang="en-US" sz="2000" b="0" i="1" u="none" strike="noStrike" cap="none" normalizeH="0" baseline="0" dirty="0" smtClean="0">
                <a:ln>
                  <a:noFill/>
                </a:ln>
                <a:solidFill>
                  <a:srgbClr val="999988"/>
                </a:solidFill>
                <a:effectLst/>
                <a:latin typeface="SFMono-Regular"/>
              </a:rPr>
              <a:t> </a:t>
            </a:r>
            <a:r>
              <a:rPr kumimoji="0" lang="en-US" sz="2000" b="0" i="1" u="none" strike="noStrike" cap="none" normalizeH="0" baseline="0" dirty="0" err="1" smtClean="0">
                <a:ln>
                  <a:noFill/>
                </a:ln>
                <a:solidFill>
                  <a:srgbClr val="999988"/>
                </a:solidFill>
                <a:effectLst/>
                <a:latin typeface="SFMono-Regular"/>
              </a:rPr>
              <a:t>bernilai</a:t>
            </a:r>
            <a:r>
              <a:rPr kumimoji="0" lang="en-US" sz="2000" b="0" i="1" u="none" strike="noStrike" cap="none" normalizeH="0" baseline="0" dirty="0" smtClean="0">
                <a:ln>
                  <a:noFill/>
                </a:ln>
                <a:solidFill>
                  <a:srgbClr val="999988"/>
                </a:solidFill>
                <a:effectLst/>
                <a:latin typeface="SFMono-Regular"/>
              </a:rPr>
              <a:t> TRUE </a:t>
            </a:r>
            <a:r>
              <a:rPr kumimoji="0" lang="en-US" sz="2000" b="0" i="1" u="none" strike="noStrike" cap="none" normalizeH="0" baseline="0" dirty="0" err="1" smtClean="0">
                <a:ln>
                  <a:noFill/>
                </a:ln>
                <a:solidFill>
                  <a:srgbClr val="999988"/>
                </a:solidFill>
                <a:effectLst/>
                <a:latin typeface="SFMono-Regular"/>
              </a:rPr>
              <a:t>maka</a:t>
            </a:r>
            <a:r>
              <a:rPr kumimoji="0" lang="en-US" sz="2000" b="0" i="1" u="none" strike="noStrike" cap="none" normalizeH="0" baseline="0" dirty="0" smtClean="0">
                <a:ln>
                  <a:noFill/>
                </a:ln>
                <a:solidFill>
                  <a:srgbClr val="999988"/>
                </a:solidFill>
                <a:effectLst/>
                <a:latin typeface="SFMono-Regular"/>
              </a:rPr>
              <a:t> </a:t>
            </a:r>
            <a:r>
              <a:rPr kumimoji="0" lang="en-US" sz="2000" b="0" i="1" u="none" strike="noStrike" cap="none" normalizeH="0" baseline="0" dirty="0" err="1" smtClean="0">
                <a:ln>
                  <a:noFill/>
                </a:ln>
                <a:solidFill>
                  <a:srgbClr val="999988"/>
                </a:solidFill>
                <a:effectLst/>
                <a:latin typeface="SFMono-Regular"/>
              </a:rPr>
              <a:t>akan</a:t>
            </a:r>
            <a:r>
              <a:rPr kumimoji="0" lang="en-US" sz="2000" b="0" i="1" u="none" strike="noStrike" cap="none" normalizeH="0" baseline="0" dirty="0" smtClean="0">
                <a:ln>
                  <a:noFill/>
                </a:ln>
                <a:solidFill>
                  <a:srgbClr val="999988"/>
                </a:solidFill>
                <a:effectLst/>
                <a:latin typeface="SFMono-Regular"/>
              </a:rPr>
              <a:t> </a:t>
            </a:r>
            <a:r>
              <a:rPr kumimoji="0" lang="en-US" sz="2000" b="0" i="1" u="none" strike="noStrike" cap="none" normalizeH="0" baseline="0" dirty="0" err="1" smtClean="0">
                <a:ln>
                  <a:noFill/>
                </a:ln>
                <a:solidFill>
                  <a:srgbClr val="999988"/>
                </a:solidFill>
                <a:effectLst/>
                <a:latin typeface="SFMono-Regular"/>
              </a:rPr>
              <a:t>dieksekusi</a:t>
            </a:r>
            <a:r>
              <a:rPr kumimoji="0" lang="en-US" sz="2000" b="0" i="1" u="none" strike="noStrike" cap="none" normalizeH="0" baseline="0" dirty="0" smtClean="0">
                <a:ln>
                  <a:noFill/>
                </a:ln>
                <a:solidFill>
                  <a:srgbClr val="999988"/>
                </a:solidFill>
                <a:effectLst/>
                <a:latin typeface="SFMono-Regular"/>
              </a:rPr>
              <a:t> </a:t>
            </a:r>
            <a:r>
              <a:rPr kumimoji="0" lang="en-US" sz="2000" b="0" i="1" u="none" strike="noStrike" cap="none" normalizeH="0" baseline="0" dirty="0" err="1" smtClean="0">
                <a:ln>
                  <a:noFill/>
                </a:ln>
                <a:solidFill>
                  <a:srgbClr val="999988"/>
                </a:solidFill>
                <a:effectLst/>
                <a:latin typeface="SFMono-Regular"/>
              </a:rPr>
              <a:t>pada</a:t>
            </a:r>
            <a:r>
              <a:rPr kumimoji="0" lang="en-US" sz="2000" b="0" i="1" u="none" strike="noStrike" cap="none" normalizeH="0" baseline="0" dirty="0" smtClean="0">
                <a:ln>
                  <a:noFill/>
                </a:ln>
                <a:solidFill>
                  <a:srgbClr val="999988"/>
                </a:solidFill>
                <a:effectLst/>
                <a:latin typeface="SFMono-Regular"/>
              </a:rPr>
              <a:t> if, </a:t>
            </a:r>
            <a:r>
              <a:rPr kumimoji="0" lang="en-US" sz="2000" b="0" i="1" u="none" strike="noStrike" cap="none" normalizeH="0" baseline="0" dirty="0" err="1" smtClean="0">
                <a:ln>
                  <a:noFill/>
                </a:ln>
                <a:solidFill>
                  <a:srgbClr val="999988"/>
                </a:solidFill>
                <a:effectLst/>
                <a:latin typeface="SFMono-Regular"/>
              </a:rPr>
              <a:t>tetapi</a:t>
            </a:r>
            <a:r>
              <a:rPr kumimoji="0" lang="en-US" sz="2000" b="0" i="1" u="none" strike="noStrike" cap="none" normalizeH="0" baseline="0" dirty="0" smtClean="0">
                <a:ln>
                  <a:noFill/>
                </a:ln>
                <a:solidFill>
                  <a:srgbClr val="999988"/>
                </a:solidFill>
                <a:effectLst/>
                <a:latin typeface="SFMono-Regular"/>
              </a:rPr>
              <a:t> </a:t>
            </a:r>
            <a:r>
              <a:rPr kumimoji="0" lang="en-US" sz="2000" b="0" i="1" u="none" strike="noStrike" cap="none" normalizeH="0" baseline="0" dirty="0" err="1" smtClean="0">
                <a:ln>
                  <a:noFill/>
                </a:ln>
                <a:solidFill>
                  <a:srgbClr val="999988"/>
                </a:solidFill>
                <a:effectLst/>
                <a:latin typeface="SFMono-Regular"/>
              </a:rPr>
              <a:t>jika</a:t>
            </a:r>
            <a:r>
              <a:rPr kumimoji="0" lang="en-US" sz="2000" b="0" i="1" u="none" strike="noStrike" cap="none" normalizeH="0" baseline="0" dirty="0" smtClean="0">
                <a:ln>
                  <a:noFill/>
                </a:ln>
                <a:solidFill>
                  <a:srgbClr val="999988"/>
                </a:solidFill>
                <a:effectLst/>
                <a:latin typeface="SFMono-Regular"/>
              </a:rPr>
              <a:t> </a:t>
            </a:r>
            <a:r>
              <a:rPr kumimoji="0" lang="en-US" sz="2000" b="0" i="1" u="none" strike="noStrike" cap="none" normalizeH="0" baseline="0" dirty="0" err="1" smtClean="0">
                <a:ln>
                  <a:noFill/>
                </a:ln>
                <a:solidFill>
                  <a:srgbClr val="999988"/>
                </a:solidFill>
                <a:effectLst/>
                <a:latin typeface="SFMono-Regular"/>
              </a:rPr>
              <a:t>bernilai</a:t>
            </a:r>
            <a:r>
              <a:rPr kumimoji="0" lang="en-US" sz="2000" b="0" i="1" u="none" strike="noStrike" cap="none" normalizeH="0" baseline="0" dirty="0" smtClean="0">
                <a:ln>
                  <a:noFill/>
                </a:ln>
                <a:solidFill>
                  <a:srgbClr val="999988"/>
                </a:solidFill>
                <a:effectLst/>
                <a:latin typeface="SFMono-Regular"/>
              </a:rPr>
              <a:t> FALSE </a:t>
            </a:r>
            <a:r>
              <a:rPr kumimoji="0" lang="en-US" sz="2000" b="0" i="1" u="none" strike="noStrike" cap="none" normalizeH="0" baseline="0" dirty="0" err="1" smtClean="0">
                <a:ln>
                  <a:noFill/>
                </a:ln>
                <a:solidFill>
                  <a:srgbClr val="999988"/>
                </a:solidFill>
                <a:effectLst/>
                <a:latin typeface="SFMono-Regular"/>
              </a:rPr>
              <a:t>maka</a:t>
            </a:r>
            <a:r>
              <a:rPr kumimoji="0" lang="en-US" sz="2000" b="0" i="1" u="none" strike="noStrike" cap="none" normalizeH="0" baseline="0" dirty="0" smtClean="0">
                <a:ln>
                  <a:noFill/>
                </a:ln>
                <a:solidFill>
                  <a:srgbClr val="999988"/>
                </a:solidFill>
                <a:effectLst/>
                <a:latin typeface="SFMono-Regular"/>
              </a:rPr>
              <a:t> </a:t>
            </a:r>
            <a:r>
              <a:rPr kumimoji="0" lang="en-US" sz="2000" b="0" i="1" u="none" strike="noStrike" cap="none" normalizeH="0" baseline="0" dirty="0" err="1" smtClean="0">
                <a:ln>
                  <a:noFill/>
                </a:ln>
                <a:solidFill>
                  <a:srgbClr val="999988"/>
                </a:solidFill>
                <a:effectLst/>
                <a:latin typeface="SFMono-Regular"/>
              </a:rPr>
              <a:t>akan</a:t>
            </a:r>
            <a:r>
              <a:rPr kumimoji="0" lang="en-US" sz="2000" b="0" i="1" u="none" strike="noStrike" cap="none" normalizeH="0" baseline="0" dirty="0" smtClean="0">
                <a:ln>
                  <a:noFill/>
                </a:ln>
                <a:solidFill>
                  <a:srgbClr val="999988"/>
                </a:solidFill>
                <a:effectLst/>
                <a:latin typeface="SFMono-Regular"/>
              </a:rPr>
              <a:t> </a:t>
            </a:r>
            <a:r>
              <a:rPr kumimoji="0" lang="en-US" sz="2000" b="0" i="1" u="none" strike="noStrike" cap="none" normalizeH="0" baseline="0" dirty="0" err="1" smtClean="0">
                <a:ln>
                  <a:noFill/>
                </a:ln>
                <a:solidFill>
                  <a:srgbClr val="999988"/>
                </a:solidFill>
                <a:effectLst/>
                <a:latin typeface="SFMono-Regular"/>
              </a:rPr>
              <a:t>dieksekusi</a:t>
            </a:r>
            <a:r>
              <a:rPr kumimoji="0" lang="en-US" sz="2000" b="0" i="1" u="none" strike="noStrike" cap="none" normalizeH="0" baseline="0" dirty="0" smtClean="0">
                <a:ln>
                  <a:noFill/>
                </a:ln>
                <a:solidFill>
                  <a:srgbClr val="999988"/>
                </a:solidFill>
                <a:effectLst/>
                <a:latin typeface="SFMono-Regular"/>
              </a:rPr>
              <a:t> </a:t>
            </a:r>
            <a:r>
              <a:rPr kumimoji="0" lang="en-US" sz="2000" b="0" i="1" u="none" strike="noStrike" cap="none" normalizeH="0" baseline="0" dirty="0" err="1" smtClean="0">
                <a:ln>
                  <a:noFill/>
                </a:ln>
                <a:solidFill>
                  <a:srgbClr val="999988"/>
                </a:solidFill>
                <a:effectLst/>
                <a:latin typeface="SFMono-Regular"/>
              </a:rPr>
              <a:t>kode</a:t>
            </a:r>
            <a:r>
              <a:rPr kumimoji="0" lang="en-US" sz="2000" b="0" i="1" u="none" strike="noStrike" cap="none" normalizeH="0" baseline="0" dirty="0" smtClean="0">
                <a:ln>
                  <a:noFill/>
                </a:ln>
                <a:solidFill>
                  <a:srgbClr val="999988"/>
                </a:solidFill>
                <a:effectLst/>
                <a:latin typeface="SFMono-Regular"/>
              </a:rPr>
              <a:t> </a:t>
            </a:r>
            <a:r>
              <a:rPr kumimoji="0" lang="en-US" sz="2000" b="0" i="1" u="none" strike="noStrike" cap="none" normalizeH="0" baseline="0" dirty="0" err="1" smtClean="0">
                <a:ln>
                  <a:noFill/>
                </a:ln>
                <a:solidFill>
                  <a:srgbClr val="999988"/>
                </a:solidFill>
                <a:effectLst/>
                <a:latin typeface="SFMono-Regular"/>
              </a:rPr>
              <a:t>pada</a:t>
            </a:r>
            <a:r>
              <a:rPr kumimoji="0" lang="en-US" sz="2000" b="0" i="1" u="none" strike="noStrike" cap="none" normalizeH="0" baseline="0" dirty="0" smtClean="0">
                <a:ln>
                  <a:noFill/>
                </a:ln>
                <a:solidFill>
                  <a:srgbClr val="999988"/>
                </a:solidFill>
                <a:effectLst/>
                <a:latin typeface="SFMono-Regular"/>
              </a:rPr>
              <a:t> else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SFMono-Regular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nilai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SFMono-Regular"/>
              </a:rPr>
              <a:t>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=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SFMono-Regular"/>
              </a:rPr>
              <a:t> 3 </a:t>
            </a:r>
            <a:r>
              <a:rPr kumimoji="0" lang="en-US" sz="2000" b="0" i="1" u="none" strike="noStrike" cap="none" normalizeH="0" baseline="0" dirty="0" smtClean="0">
                <a:ln>
                  <a:noFill/>
                </a:ln>
                <a:solidFill>
                  <a:srgbClr val="999988"/>
                </a:solidFill>
                <a:effectLst/>
                <a:latin typeface="SFMono-Regular"/>
              </a:rPr>
              <a:t>#</a:t>
            </a:r>
            <a:r>
              <a:rPr kumimoji="0" lang="en-US" sz="2000" b="0" i="1" u="none" strike="noStrike" cap="none" normalizeH="0" baseline="0" dirty="0" err="1" smtClean="0">
                <a:ln>
                  <a:noFill/>
                </a:ln>
                <a:solidFill>
                  <a:srgbClr val="999988"/>
                </a:solidFill>
                <a:effectLst/>
                <a:latin typeface="SFMono-Regular"/>
              </a:rPr>
              <a:t>Jika</a:t>
            </a:r>
            <a:r>
              <a:rPr kumimoji="0" lang="en-US" sz="2000" b="0" i="1" u="none" strike="noStrike" cap="none" normalizeH="0" baseline="0" dirty="0" smtClean="0">
                <a:ln>
                  <a:noFill/>
                </a:ln>
                <a:solidFill>
                  <a:srgbClr val="999988"/>
                </a:solidFill>
                <a:effectLst/>
                <a:latin typeface="SFMono-Regular"/>
              </a:rPr>
              <a:t> </a:t>
            </a:r>
            <a:r>
              <a:rPr kumimoji="0" lang="en-US" sz="2000" b="0" i="1" u="none" strike="noStrike" cap="none" normalizeH="0" baseline="0" dirty="0" err="1" smtClean="0">
                <a:ln>
                  <a:noFill/>
                </a:ln>
                <a:solidFill>
                  <a:srgbClr val="999988"/>
                </a:solidFill>
                <a:effectLst/>
                <a:latin typeface="SFMono-Regular"/>
              </a:rPr>
              <a:t>pernyataan</a:t>
            </a:r>
            <a:r>
              <a:rPr kumimoji="0" lang="en-US" sz="2000" b="0" i="1" u="none" strike="noStrike" cap="none" normalizeH="0" baseline="0" dirty="0" smtClean="0">
                <a:ln>
                  <a:noFill/>
                </a:ln>
                <a:solidFill>
                  <a:srgbClr val="999988"/>
                </a:solidFill>
                <a:effectLst/>
                <a:latin typeface="SFMono-Regular"/>
              </a:rPr>
              <a:t> </a:t>
            </a:r>
            <a:r>
              <a:rPr kumimoji="0" lang="en-US" sz="2000" b="0" i="1" u="none" strike="noStrike" cap="none" normalizeH="0" baseline="0" dirty="0" err="1" smtClean="0">
                <a:ln>
                  <a:noFill/>
                </a:ln>
                <a:solidFill>
                  <a:srgbClr val="999988"/>
                </a:solidFill>
                <a:effectLst/>
                <a:latin typeface="SFMono-Regular"/>
              </a:rPr>
              <a:t>pada</a:t>
            </a:r>
            <a:r>
              <a:rPr kumimoji="0" lang="en-US" sz="2000" b="0" i="1" u="none" strike="noStrike" cap="none" normalizeH="0" baseline="0" dirty="0" smtClean="0">
                <a:ln>
                  <a:noFill/>
                </a:ln>
                <a:solidFill>
                  <a:srgbClr val="999988"/>
                </a:solidFill>
                <a:effectLst/>
                <a:latin typeface="SFMono-Regular"/>
              </a:rPr>
              <a:t> if </a:t>
            </a:r>
            <a:r>
              <a:rPr kumimoji="0" lang="en-US" sz="2000" b="0" i="1" u="none" strike="noStrike" cap="none" normalizeH="0" baseline="0" dirty="0" err="1" smtClean="0">
                <a:ln>
                  <a:noFill/>
                </a:ln>
                <a:solidFill>
                  <a:srgbClr val="999988"/>
                </a:solidFill>
                <a:effectLst/>
                <a:latin typeface="SFMono-Regular"/>
              </a:rPr>
              <a:t>bernilai</a:t>
            </a:r>
            <a:r>
              <a:rPr kumimoji="0" lang="en-US" sz="2000" b="0" i="1" u="none" strike="noStrike" cap="none" normalizeH="0" baseline="0" dirty="0" smtClean="0">
                <a:ln>
                  <a:noFill/>
                </a:ln>
                <a:solidFill>
                  <a:srgbClr val="999988"/>
                </a:solidFill>
                <a:effectLst/>
                <a:latin typeface="SFMono-Regular"/>
              </a:rPr>
              <a:t> TRUE </a:t>
            </a:r>
            <a:r>
              <a:rPr kumimoji="0" lang="en-US" sz="2000" b="0" i="1" u="none" strike="noStrike" cap="none" normalizeH="0" baseline="0" dirty="0" err="1" smtClean="0">
                <a:ln>
                  <a:noFill/>
                </a:ln>
                <a:solidFill>
                  <a:srgbClr val="999988"/>
                </a:solidFill>
                <a:effectLst/>
                <a:latin typeface="SFMono-Regular"/>
              </a:rPr>
              <a:t>maka</a:t>
            </a:r>
            <a:r>
              <a:rPr kumimoji="0" lang="en-US" sz="2000" b="0" i="1" u="none" strike="noStrike" cap="none" normalizeH="0" baseline="0" dirty="0" smtClean="0">
                <a:ln>
                  <a:noFill/>
                </a:ln>
                <a:solidFill>
                  <a:srgbClr val="999988"/>
                </a:solidFill>
                <a:effectLst/>
                <a:latin typeface="SFMono-Regular"/>
              </a:rPr>
              <a:t> if </a:t>
            </a:r>
            <a:r>
              <a:rPr kumimoji="0" lang="en-US" sz="2000" b="0" i="1" u="none" strike="noStrike" cap="none" normalizeH="0" baseline="0" dirty="0" err="1" smtClean="0">
                <a:ln>
                  <a:noFill/>
                </a:ln>
                <a:solidFill>
                  <a:srgbClr val="999988"/>
                </a:solidFill>
                <a:effectLst/>
                <a:latin typeface="SFMono-Regular"/>
              </a:rPr>
              <a:t>akan</a:t>
            </a:r>
            <a:r>
              <a:rPr kumimoji="0" lang="en-US" sz="2000" b="0" i="1" u="none" strike="noStrike" cap="none" normalizeH="0" baseline="0" dirty="0" smtClean="0">
                <a:ln>
                  <a:noFill/>
                </a:ln>
                <a:solidFill>
                  <a:srgbClr val="999988"/>
                </a:solidFill>
                <a:effectLst/>
                <a:latin typeface="SFMono-Regular"/>
              </a:rPr>
              <a:t> </a:t>
            </a:r>
            <a:r>
              <a:rPr kumimoji="0" lang="en-US" sz="2000" b="0" i="1" u="none" strike="noStrike" cap="none" normalizeH="0" baseline="0" dirty="0" err="1" smtClean="0">
                <a:ln>
                  <a:noFill/>
                </a:ln>
                <a:solidFill>
                  <a:srgbClr val="999988"/>
                </a:solidFill>
                <a:effectLst/>
                <a:latin typeface="SFMono-Regular"/>
              </a:rPr>
              <a:t>dieksekusi</a:t>
            </a:r>
            <a:r>
              <a:rPr kumimoji="0" lang="en-US" sz="2000" b="0" i="1" u="none" strike="noStrike" cap="none" normalizeH="0" baseline="0" dirty="0" smtClean="0">
                <a:ln>
                  <a:noFill/>
                </a:ln>
                <a:solidFill>
                  <a:srgbClr val="999988"/>
                </a:solidFill>
                <a:effectLst/>
                <a:latin typeface="SFMono-Regular"/>
              </a:rPr>
              <a:t>, </a:t>
            </a:r>
            <a:r>
              <a:rPr kumimoji="0" lang="en-US" sz="2000" b="0" i="1" u="none" strike="noStrike" cap="none" normalizeH="0" baseline="0" dirty="0" err="1" smtClean="0">
                <a:ln>
                  <a:noFill/>
                </a:ln>
                <a:solidFill>
                  <a:srgbClr val="999988"/>
                </a:solidFill>
                <a:effectLst/>
                <a:latin typeface="SFMono-Regular"/>
              </a:rPr>
              <a:t>tetapi</a:t>
            </a:r>
            <a:r>
              <a:rPr kumimoji="0" lang="en-US" sz="2000" b="0" i="1" u="none" strike="noStrike" cap="none" normalizeH="0" baseline="0" dirty="0" smtClean="0">
                <a:ln>
                  <a:noFill/>
                </a:ln>
                <a:solidFill>
                  <a:srgbClr val="999988"/>
                </a:solidFill>
                <a:effectLst/>
                <a:latin typeface="SFMono-Regular"/>
              </a:rPr>
              <a:t> </a:t>
            </a:r>
            <a:r>
              <a:rPr kumimoji="0" lang="en-US" sz="2000" b="0" i="1" u="none" strike="noStrike" cap="none" normalizeH="0" baseline="0" dirty="0" err="1" smtClean="0">
                <a:ln>
                  <a:noFill/>
                </a:ln>
                <a:solidFill>
                  <a:srgbClr val="999988"/>
                </a:solidFill>
                <a:effectLst/>
                <a:latin typeface="SFMono-Regular"/>
              </a:rPr>
              <a:t>jika</a:t>
            </a:r>
            <a:r>
              <a:rPr kumimoji="0" lang="en-US" sz="2000" b="0" i="1" u="none" strike="noStrike" cap="none" normalizeH="0" baseline="0" dirty="0" smtClean="0">
                <a:ln>
                  <a:noFill/>
                </a:ln>
                <a:solidFill>
                  <a:srgbClr val="999988"/>
                </a:solidFill>
                <a:effectLst/>
                <a:latin typeface="SFMono-Regular"/>
              </a:rPr>
              <a:t> FALSE </a:t>
            </a:r>
            <a:r>
              <a:rPr kumimoji="0" lang="en-US" sz="2000" b="0" i="1" u="none" strike="noStrike" cap="none" normalizeH="0" baseline="0" dirty="0" err="1" smtClean="0">
                <a:ln>
                  <a:noFill/>
                </a:ln>
                <a:solidFill>
                  <a:srgbClr val="999988"/>
                </a:solidFill>
                <a:effectLst/>
                <a:latin typeface="SFMono-Regular"/>
              </a:rPr>
              <a:t>kode</a:t>
            </a:r>
            <a:r>
              <a:rPr kumimoji="0" lang="en-US" sz="2000" b="0" i="1" u="none" strike="noStrike" cap="none" normalizeH="0" baseline="0" dirty="0" smtClean="0">
                <a:ln>
                  <a:noFill/>
                </a:ln>
                <a:solidFill>
                  <a:srgbClr val="999988"/>
                </a:solidFill>
                <a:effectLst/>
                <a:latin typeface="SFMono-Regular"/>
              </a:rPr>
              <a:t> </a:t>
            </a:r>
            <a:r>
              <a:rPr kumimoji="0" lang="en-US" sz="2000" b="0" i="1" u="none" strike="noStrike" cap="none" normalizeH="0" baseline="0" dirty="0" err="1" smtClean="0">
                <a:ln>
                  <a:noFill/>
                </a:ln>
                <a:solidFill>
                  <a:srgbClr val="999988"/>
                </a:solidFill>
                <a:effectLst/>
                <a:latin typeface="SFMono-Regular"/>
              </a:rPr>
              <a:t>pada</a:t>
            </a:r>
            <a:r>
              <a:rPr kumimoji="0" lang="en-US" sz="2000" b="0" i="1" u="none" strike="noStrike" cap="none" normalizeH="0" baseline="0" dirty="0" smtClean="0">
                <a:ln>
                  <a:noFill/>
                </a:ln>
                <a:solidFill>
                  <a:srgbClr val="999988"/>
                </a:solidFill>
                <a:effectLst/>
                <a:latin typeface="SFMono-Regular"/>
              </a:rPr>
              <a:t> else yang </a:t>
            </a:r>
            <a:r>
              <a:rPr kumimoji="0" lang="en-US" sz="2000" b="0" i="1" u="none" strike="noStrike" cap="none" normalizeH="0" baseline="0" dirty="0" err="1" smtClean="0">
                <a:ln>
                  <a:noFill/>
                </a:ln>
                <a:solidFill>
                  <a:srgbClr val="999988"/>
                </a:solidFill>
                <a:effectLst/>
                <a:latin typeface="SFMono-Regular"/>
              </a:rPr>
              <a:t>akan</a:t>
            </a:r>
            <a:r>
              <a:rPr kumimoji="0" lang="en-US" sz="2000" b="0" i="1" u="none" strike="noStrike" cap="none" normalizeH="0" baseline="0" dirty="0" smtClean="0">
                <a:ln>
                  <a:noFill/>
                </a:ln>
                <a:solidFill>
                  <a:srgbClr val="999988"/>
                </a:solidFill>
                <a:effectLst/>
                <a:latin typeface="SFMono-Regular"/>
              </a:rPr>
              <a:t> </a:t>
            </a:r>
            <a:r>
              <a:rPr kumimoji="0" lang="en-US" sz="2000" b="0" i="1" u="none" strike="noStrike" cap="none" normalizeH="0" baseline="0" dirty="0" err="1" smtClean="0">
                <a:ln>
                  <a:noFill/>
                </a:ln>
                <a:solidFill>
                  <a:srgbClr val="999988"/>
                </a:solidFill>
                <a:effectLst/>
                <a:latin typeface="SFMono-Regular"/>
              </a:rPr>
              <a:t>dieksekusi</a:t>
            </a:r>
            <a:r>
              <a:rPr kumimoji="0" lang="en-US" sz="2000" b="0" i="1" u="none" strike="noStrike" cap="none" normalizeH="0" baseline="0" dirty="0" smtClean="0">
                <a:ln>
                  <a:noFill/>
                </a:ln>
                <a:solidFill>
                  <a:srgbClr val="999988"/>
                </a:solidFill>
                <a:effectLst/>
                <a:latin typeface="SFMono-Regular"/>
              </a:rPr>
              <a:t>.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SFMono-Regular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SFMono-Regular"/>
              </a:rPr>
              <a:t>If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SFMono-Regular"/>
              </a:rPr>
              <a:t>(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nilai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SFMono-Regular"/>
              </a:rPr>
              <a:t>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&gt;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  <a:lumOff val="35000"/>
                  </a:schemeClr>
                </a:solidFill>
                <a:effectLst/>
                <a:latin typeface="SFMono-Regular"/>
              </a:rPr>
              <a:t>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9999"/>
                </a:solidFill>
                <a:effectLst/>
                <a:latin typeface="SFMono-Regular"/>
              </a:rPr>
              <a:t>7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SFMono-Regular"/>
              </a:rPr>
              <a:t>):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SFMono-Regular"/>
              </a:rPr>
              <a:t>	print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SFMono-Regular"/>
              </a:rPr>
              <a:t>(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DD1144"/>
                </a:solidFill>
                <a:effectLst/>
                <a:latin typeface="SFMono-Regular"/>
              </a:rPr>
              <a:t>"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DD1144"/>
                </a:solidFill>
                <a:effectLst/>
                <a:latin typeface="SFMono-Regular"/>
              </a:rPr>
              <a:t>Selamat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DD1144"/>
                </a:solidFill>
                <a:effectLst/>
                <a:latin typeface="SFMono-Regular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DD1144"/>
                </a:solidFill>
                <a:effectLst/>
                <a:latin typeface="SFMono-Regular"/>
              </a:rPr>
              <a:t>Anda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DD1144"/>
                </a:solidFill>
                <a:effectLst/>
                <a:latin typeface="SFMono-Regular"/>
              </a:rPr>
              <a:t> Lulus"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SFMono-Regular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SFMono-Regular"/>
              </a:rPr>
              <a:t>else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SFMono-Regular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solidFill>
                  <a:srgbClr val="212529"/>
                </a:solidFill>
                <a:latin typeface="SFMono-Regular"/>
              </a:rPr>
              <a:t>	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SFMono-Regular"/>
              </a:rPr>
              <a:t>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SFMono-Regular"/>
              </a:rPr>
              <a:t>print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SFMono-Regular"/>
              </a:rPr>
              <a:t>(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DD1144"/>
                </a:solidFill>
                <a:effectLst/>
                <a:latin typeface="SFMono-Regular"/>
              </a:rPr>
              <a:t>"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DD1144"/>
                </a:solidFill>
                <a:effectLst/>
                <a:latin typeface="SFMono-Regular"/>
              </a:rPr>
              <a:t>Maaf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DD1144"/>
                </a:solidFill>
                <a:effectLst/>
                <a:latin typeface="SFMono-Regular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DD1144"/>
                </a:solidFill>
                <a:effectLst/>
                <a:latin typeface="SFMono-Regular"/>
              </a:rPr>
              <a:t>Anda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DD1144"/>
                </a:solidFill>
                <a:effectLst/>
                <a:latin typeface="SFMono-Regular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DD1144"/>
                </a:solidFill>
                <a:effectLst/>
                <a:latin typeface="SFMono-Regular"/>
              </a:rPr>
              <a:t>Tidak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DD1144"/>
                </a:solidFill>
                <a:effectLst/>
                <a:latin typeface="SFMono-Regular"/>
              </a:rPr>
              <a:t> Lulus"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SFMono-Regular"/>
              </a:rPr>
              <a:t>)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17543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653" y="1225119"/>
            <a:ext cx="1132918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err="1">
                <a:solidFill>
                  <a:schemeClr val="tx1">
                    <a:lumMod val="85000"/>
                  </a:schemeClr>
                </a:solidFill>
              </a:rPr>
              <a:t>Secara</a:t>
            </a:r>
            <a:r>
              <a:rPr lang="en-US" sz="2000" b="1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tx1">
                    <a:lumMod val="85000"/>
                  </a:schemeClr>
                </a:solidFill>
              </a:rPr>
              <a:t>umum</a:t>
            </a:r>
            <a:r>
              <a:rPr lang="en-US" sz="2000" b="1" dirty="0">
                <a:solidFill>
                  <a:schemeClr val="tx1">
                    <a:lumMod val="85000"/>
                  </a:schemeClr>
                </a:solidFill>
              </a:rPr>
              <a:t>, </a:t>
            </a:r>
            <a:r>
              <a:rPr lang="en-US" sz="2000" b="1" dirty="0" err="1">
                <a:solidFill>
                  <a:schemeClr val="tx1">
                    <a:lumMod val="85000"/>
                  </a:schemeClr>
                </a:solidFill>
              </a:rPr>
              <a:t>pernyataan</a:t>
            </a:r>
            <a:r>
              <a:rPr lang="en-US" sz="2000" b="1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tx1">
                    <a:lumMod val="85000"/>
                  </a:schemeClr>
                </a:solidFill>
              </a:rPr>
              <a:t>pada</a:t>
            </a:r>
            <a:r>
              <a:rPr lang="en-US" sz="2000" b="1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tx1">
                    <a:lumMod val="85000"/>
                  </a:schemeClr>
                </a:solidFill>
              </a:rPr>
              <a:t>bahasa</a:t>
            </a:r>
            <a:r>
              <a:rPr lang="en-US" sz="2000" b="1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tx1">
                    <a:lumMod val="85000"/>
                  </a:schemeClr>
                </a:solidFill>
              </a:rPr>
              <a:t>pemrograman</a:t>
            </a:r>
            <a:r>
              <a:rPr lang="en-US" sz="2000" b="1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tx1">
                    <a:lumMod val="85000"/>
                  </a:schemeClr>
                </a:solidFill>
              </a:rPr>
              <a:t>akan</a:t>
            </a:r>
            <a:r>
              <a:rPr lang="en-US" sz="2000" b="1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tx1">
                    <a:lumMod val="85000"/>
                  </a:schemeClr>
                </a:solidFill>
              </a:rPr>
              <a:t>dieksekusi</a:t>
            </a:r>
            <a:r>
              <a:rPr lang="en-US" sz="2000" b="1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tx1">
                    <a:lumMod val="85000"/>
                  </a:schemeClr>
                </a:solidFill>
              </a:rPr>
              <a:t>secara</a:t>
            </a:r>
            <a:r>
              <a:rPr lang="en-US" sz="2000" b="1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tx1">
                    <a:lumMod val="85000"/>
                  </a:schemeClr>
                </a:solidFill>
              </a:rPr>
              <a:t>berurutan</a:t>
            </a:r>
            <a:r>
              <a:rPr lang="en-US" sz="2000" b="1" dirty="0">
                <a:solidFill>
                  <a:schemeClr val="tx1">
                    <a:lumMod val="85000"/>
                  </a:schemeClr>
                </a:solidFill>
              </a:rPr>
              <a:t>. </a:t>
            </a:r>
            <a:r>
              <a:rPr lang="en-US" sz="2000" b="1" dirty="0" err="1">
                <a:solidFill>
                  <a:schemeClr val="tx1">
                    <a:lumMod val="85000"/>
                  </a:schemeClr>
                </a:solidFill>
              </a:rPr>
              <a:t>Pernyataan</a:t>
            </a:r>
            <a:r>
              <a:rPr lang="en-US" sz="2000" b="1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tx1">
                    <a:lumMod val="85000"/>
                  </a:schemeClr>
                </a:solidFill>
              </a:rPr>
              <a:t>pertama</a:t>
            </a:r>
            <a:r>
              <a:rPr lang="en-US" sz="2000" b="1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tx1">
                    <a:lumMod val="85000"/>
                  </a:schemeClr>
                </a:solidFill>
              </a:rPr>
              <a:t>dalam</a:t>
            </a:r>
            <a:r>
              <a:rPr lang="en-US" sz="2000" b="1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tx1">
                    <a:lumMod val="85000"/>
                  </a:schemeClr>
                </a:solidFill>
              </a:rPr>
              <a:t>sebuah</a:t>
            </a:r>
            <a:r>
              <a:rPr lang="en-US" sz="2000" b="1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tx1">
                    <a:lumMod val="85000"/>
                  </a:schemeClr>
                </a:solidFill>
              </a:rPr>
              <a:t>fungsi</a:t>
            </a:r>
            <a:r>
              <a:rPr lang="en-US" sz="2000" b="1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tx1">
                    <a:lumMod val="85000"/>
                  </a:schemeClr>
                </a:solidFill>
              </a:rPr>
              <a:t>dijalankan</a:t>
            </a:r>
            <a:r>
              <a:rPr lang="en-US" sz="2000" b="1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tx1">
                    <a:lumMod val="85000"/>
                  </a:schemeClr>
                </a:solidFill>
              </a:rPr>
              <a:t>pertama</a:t>
            </a:r>
            <a:r>
              <a:rPr lang="en-US" sz="2000" b="1" dirty="0">
                <a:solidFill>
                  <a:schemeClr val="tx1">
                    <a:lumMod val="85000"/>
                  </a:schemeClr>
                </a:solidFill>
              </a:rPr>
              <a:t>, </a:t>
            </a:r>
            <a:r>
              <a:rPr lang="en-US" sz="2000" b="1" dirty="0" err="1">
                <a:solidFill>
                  <a:schemeClr val="tx1">
                    <a:lumMod val="85000"/>
                  </a:schemeClr>
                </a:solidFill>
              </a:rPr>
              <a:t>diikuti</a:t>
            </a:r>
            <a:r>
              <a:rPr lang="en-US" sz="2000" b="1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tx1">
                    <a:lumMod val="85000"/>
                  </a:schemeClr>
                </a:solidFill>
              </a:rPr>
              <a:t>oleh</a:t>
            </a:r>
            <a:r>
              <a:rPr lang="en-US" sz="2000" b="1" dirty="0">
                <a:solidFill>
                  <a:schemeClr val="tx1">
                    <a:lumMod val="85000"/>
                  </a:schemeClr>
                </a:solidFill>
              </a:rPr>
              <a:t> yang </a:t>
            </a:r>
            <a:r>
              <a:rPr lang="en-US" sz="2000" b="1" dirty="0" err="1">
                <a:solidFill>
                  <a:schemeClr val="tx1">
                    <a:lumMod val="85000"/>
                  </a:schemeClr>
                </a:solidFill>
              </a:rPr>
              <a:t>kedua</a:t>
            </a:r>
            <a:r>
              <a:rPr lang="en-US" sz="2000" b="1" dirty="0">
                <a:solidFill>
                  <a:schemeClr val="tx1">
                    <a:lumMod val="85000"/>
                  </a:schemeClr>
                </a:solidFill>
              </a:rPr>
              <a:t>, </a:t>
            </a:r>
            <a:r>
              <a:rPr lang="en-US" sz="2000" b="1" dirty="0" err="1">
                <a:solidFill>
                  <a:schemeClr val="tx1">
                    <a:lumMod val="85000"/>
                  </a:schemeClr>
                </a:solidFill>
              </a:rPr>
              <a:t>dan</a:t>
            </a:r>
            <a:r>
              <a:rPr lang="en-US" sz="2000" b="1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tx1">
                    <a:lumMod val="85000"/>
                  </a:schemeClr>
                </a:solidFill>
              </a:rPr>
              <a:t>seterusnya</a:t>
            </a:r>
            <a:endParaRPr lang="en-US" sz="2000" b="1" dirty="0">
              <a:solidFill>
                <a:schemeClr val="tx1">
                  <a:lumMod val="85000"/>
                </a:schemeClr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028916" y="318254"/>
            <a:ext cx="228460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85000"/>
                  </a:schemeClr>
                </a:solidFill>
              </a:rPr>
              <a:t>LOOP PYTHON</a:t>
            </a:r>
            <a:endParaRPr lang="en-US" sz="2400" b="1" i="0" dirty="0">
              <a:solidFill>
                <a:schemeClr val="tx1">
                  <a:lumMod val="85000"/>
                </a:schemeClr>
              </a:solidFill>
              <a:effectLst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EE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3653" y="2489890"/>
            <a:ext cx="863756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tx1">
                    <a:lumMod val="85000"/>
                  </a:schemeClr>
                </a:solidFill>
              </a:rPr>
              <a:t>While Loop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 err="1">
                <a:solidFill>
                  <a:schemeClr val="tx1">
                    <a:lumMod val="85000"/>
                  </a:schemeClr>
                </a:solidFill>
              </a:rPr>
              <a:t>Pengulangan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 While Loop di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</a:rPr>
              <a:t>dalam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</a:rPr>
              <a:t>bahasa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</a:rPr>
              <a:t>pemrograman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 Python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</a:rPr>
              <a:t>dieksesusi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 statement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</a:rPr>
              <a:t>berkali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-kali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</a:rPr>
              <a:t>selama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</a:rPr>
              <a:t>kondisi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</a:rPr>
              <a:t>bernilai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</a:rPr>
              <a:t>benar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</a:rPr>
              <a:t>atau</a:t>
            </a:r>
            <a:r>
              <a:rPr lang="en-US" dirty="0">
                <a:solidFill>
                  <a:srgbClr val="212529"/>
                </a:solidFill>
                <a:latin typeface="-apple-system"/>
              </a:rPr>
              <a:t> 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SFMono-Regular"/>
              </a:rPr>
              <a:t>True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-apple-system"/>
              </a:rPr>
              <a:t>.</a:t>
            </a:r>
            <a:endParaRPr lang="en-US" dirty="0">
              <a:solidFill>
                <a:schemeClr val="bg2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477" y="3693105"/>
            <a:ext cx="10636095" cy="3009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2013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01748" y="1038740"/>
            <a:ext cx="1101969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tx1">
                    <a:lumMod val="85000"/>
                  </a:schemeClr>
                </a:solidFill>
              </a:rPr>
              <a:t>For Loop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Pengulangan</a:t>
            </a:r>
            <a:r>
              <a:rPr lang="en-US" sz="20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 for</a:t>
            </a:r>
            <a:r>
              <a:rPr lang="en-US" sz="2000" dirty="0">
                <a:solidFill>
                  <a:srgbClr val="212529"/>
                </a:solidFill>
              </a:rPr>
              <a:t> 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pada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Python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memiliki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kemampuan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untuk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mengulangi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item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dari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urutan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apapun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,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seperti</a:t>
            </a:r>
            <a:r>
              <a:rPr lang="en-US" sz="2000" dirty="0">
                <a:solidFill>
                  <a:srgbClr val="212529"/>
                </a:solidFill>
              </a:rPr>
              <a:t> </a:t>
            </a:r>
            <a:r>
              <a:rPr lang="en-US" sz="20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list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 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atau</a:t>
            </a:r>
            <a:r>
              <a:rPr lang="en-US" sz="2000" dirty="0">
                <a:solidFill>
                  <a:srgbClr val="212529"/>
                </a:solidFill>
              </a:rPr>
              <a:t> </a:t>
            </a:r>
            <a:r>
              <a:rPr lang="en-US" sz="20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string</a:t>
            </a:r>
            <a:r>
              <a:rPr lang="en-US" sz="2000" dirty="0">
                <a:solidFill>
                  <a:srgbClr val="212529"/>
                </a:solidFill>
              </a:rPr>
              <a:t>.</a:t>
            </a:r>
            <a:endParaRPr lang="en-US" sz="2000" dirty="0"/>
          </a:p>
        </p:txBody>
      </p:sp>
      <p:sp>
        <p:nvSpPr>
          <p:cNvPr id="4" name="Rectangle 3"/>
          <p:cNvSpPr/>
          <p:nvPr/>
        </p:nvSpPr>
        <p:spPr>
          <a:xfrm>
            <a:off x="8028916" y="318254"/>
            <a:ext cx="228460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85000"/>
                  </a:schemeClr>
                </a:solidFill>
              </a:rPr>
              <a:t>LOOP PYTHON</a:t>
            </a:r>
            <a:endParaRPr lang="en-US" sz="2400" b="1" i="0" dirty="0">
              <a:solidFill>
                <a:schemeClr val="tx1">
                  <a:lumMod val="85000"/>
                </a:schemeClr>
              </a:solidFill>
              <a:effectLst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631" y="2866291"/>
            <a:ext cx="10845926" cy="330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1005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8943" y="1262967"/>
            <a:ext cx="1054453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Number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</a:rPr>
              <a:t>adalah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</a:rPr>
              <a:t>tipe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 data Python yang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</a:rPr>
              <a:t>menyimpan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</a:rPr>
              <a:t>nilai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</a:rPr>
              <a:t>numerik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. Number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</a:rPr>
              <a:t>adalah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</a:rPr>
              <a:t>tipe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 data yang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</a:rPr>
              <a:t>tidak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</a:rPr>
              <a:t>berubah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.</a:t>
            </a:r>
          </a:p>
        </p:txBody>
      </p:sp>
      <p:sp>
        <p:nvSpPr>
          <p:cNvPr id="3" name="Rectangle 2"/>
          <p:cNvSpPr/>
          <p:nvPr/>
        </p:nvSpPr>
        <p:spPr>
          <a:xfrm>
            <a:off x="8955199" y="304186"/>
            <a:ext cx="140294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85000"/>
                  </a:schemeClr>
                </a:solidFill>
              </a:rPr>
              <a:t>NUMBER</a:t>
            </a:r>
            <a:endParaRPr lang="en-US" sz="2400" b="1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745587" y="2688012"/>
            <a:ext cx="10522634" cy="3170099"/>
          </a:xfrm>
          <a:prstGeom prst="rect">
            <a:avLst/>
          </a:prstGeom>
          <a:solidFill>
            <a:srgbClr val="EE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</a:rPr>
              <a:t>Pada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</a:rPr>
              <a:t> Python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</a:rPr>
              <a:t>Anda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</a:rPr>
              <a:t>bisa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</a:rPr>
              <a:t>mengkonversi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</a:rPr>
              <a:t>tipe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</a:rPr>
              <a:t> data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</a:rPr>
              <a:t>dengan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</a:rPr>
              <a:t>menggunakan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</a:rPr>
              <a:t>fungsi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</a:rPr>
              <a:t>.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</a:rPr>
              <a:t>Dibawah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</a:rPr>
              <a:t>ini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</a:rPr>
              <a:t>adalah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</a:rPr>
              <a:t>beberapa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</a:rPr>
              <a:t>fungsi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</a:rPr>
              <a:t>untuk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</a:rPr>
              <a:t>mengkonversi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</a:rPr>
              <a:t>tipe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</a:rPr>
              <a:t> data number Python.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</a:rPr>
              <a:t>int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</a:rPr>
              <a:t>(x)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</a:rPr>
              <a:t> 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</a:rPr>
              <a:t>untuk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</a:rPr>
              <a:t>meng-konversi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</a:rPr>
              <a:t> x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</a:rPr>
              <a:t>menjadi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</a:rPr>
              <a:t> plain integer.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</a:rPr>
              <a:t>long(x)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</a:rPr>
              <a:t> 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</a:rPr>
              <a:t>untuk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</a:rPr>
              <a:t>meng-konversi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</a:rPr>
              <a:t> x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</a:rPr>
              <a:t>menjadi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</a:rPr>
              <a:t> long integer.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</a:rPr>
              <a:t>float(x)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</a:rPr>
              <a:t> 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</a:rPr>
              <a:t>untuk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</a:rPr>
              <a:t>meng-konversi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</a:rPr>
              <a:t> x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</a:rPr>
              <a:t>menjadi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</a:rPr>
              <a:t> floating point number.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</a:rPr>
              <a:t>complex(x)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</a:rPr>
              <a:t> 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</a:rPr>
              <a:t>untuk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</a:rPr>
              <a:t>meng-konversi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</a:rPr>
              <a:t> x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</a:rPr>
              <a:t>menjadi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</a:rPr>
              <a:t> complex number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</a:rPr>
              <a:t>dengna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</a:rPr>
              <a:t> real part x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</a:rPr>
              <a:t>dan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</a:rPr>
              <a:t> imaginary part zero.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</a:rPr>
              <a:t>complex(x, y)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</a:rPr>
              <a:t> 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</a:rPr>
              <a:t>untuk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</a:rPr>
              <a:t>meng-konversi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</a:rPr>
              <a:t> x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</a:rPr>
              <a:t>dan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</a:rPr>
              <a:t> y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</a:rPr>
              <a:t>menjadi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</a:rPr>
              <a:t> complex number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</a:rPr>
              <a:t>dengan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</a:rPr>
              <a:t> real part x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</a:rPr>
              <a:t>dan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</a:rPr>
              <a:t> imaginary part y. x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</a:rPr>
              <a:t>dan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</a:rPr>
              <a:t> numeric expressions 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67669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0505" y="1321416"/>
            <a:ext cx="1116974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String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adalah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jenis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yang paling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populer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di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bahasa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pemrograman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. Kita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bisa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membuatnya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hanya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dengan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melampirkan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karakter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dalam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tanda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kutip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.</a:t>
            </a:r>
          </a:p>
        </p:txBody>
      </p:sp>
      <p:sp>
        <p:nvSpPr>
          <p:cNvPr id="3" name="Rectangle 2"/>
          <p:cNvSpPr/>
          <p:nvPr/>
        </p:nvSpPr>
        <p:spPr>
          <a:xfrm>
            <a:off x="9133216" y="374524"/>
            <a:ext cx="12218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85000"/>
                  </a:schemeClr>
                </a:solidFill>
              </a:rPr>
              <a:t>STRING</a:t>
            </a:r>
            <a:endParaRPr lang="en-US" sz="24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637" y="3080167"/>
            <a:ext cx="9931484" cy="535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7451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4911" y="1182917"/>
            <a:ext cx="1053670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List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adalah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tipe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data yang paling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serbaguna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yang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tersedia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dalam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bahasa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Python, yang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dapat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ditulis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sebagai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daftar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nilai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yang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dipisahkan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koma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(item)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antara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tanda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kurung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siku</a:t>
            </a:r>
            <a:endParaRPr lang="en-US" sz="2000" dirty="0">
              <a:solidFill>
                <a:schemeClr val="tx1">
                  <a:lumMod val="85000"/>
                </a:schemeClr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650985" y="346390"/>
            <a:ext cx="7825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85000"/>
                  </a:schemeClr>
                </a:solidFill>
              </a:rPr>
              <a:t>LIST </a:t>
            </a:r>
            <a:endParaRPr lang="en-US" sz="24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992" y="2573442"/>
            <a:ext cx="9847385" cy="128616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992" y="4360985"/>
            <a:ext cx="9847385" cy="68931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992" y="5551676"/>
            <a:ext cx="9847385" cy="300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2674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asil gambar untuk terimakasih 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811" y="1308295"/>
            <a:ext cx="9753600" cy="4834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409876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118</TotalTime>
  <Words>464</Words>
  <Application>Microsoft Office PowerPoint</Application>
  <PresentationFormat>Widescreen</PresentationFormat>
  <Paragraphs>63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-apple-system</vt:lpstr>
      <vt:lpstr>Arial</vt:lpstr>
      <vt:lpstr>Century Gothic</vt:lpstr>
      <vt:lpstr>Georgia</vt:lpstr>
      <vt:lpstr>SFMono-Regular</vt:lpstr>
      <vt:lpstr>Wingdings 3</vt:lpstr>
      <vt:lpstr>Ion</vt:lpstr>
      <vt:lpstr>PENGENALAN DASAR PYTHON DAN PERSIAPAN AWAL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PENGENALAN DASAR PYTHON DAN PERSIAPAN AWAL</dc:title>
  <dc:creator>setyobayyu21@gmail.com</dc:creator>
  <cp:lastModifiedBy>setyobayyu21@gmail.com</cp:lastModifiedBy>
  <cp:revision>7</cp:revision>
  <dcterms:created xsi:type="dcterms:W3CDTF">2019-03-23T06:39:20Z</dcterms:created>
  <dcterms:modified xsi:type="dcterms:W3CDTF">2019-03-23T08:38:09Z</dcterms:modified>
</cp:coreProperties>
</file>